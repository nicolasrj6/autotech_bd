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nter"/>
      <p:bold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661445"/>
            <a:ext cx="6096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158454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59E0B"/>
                </a:solidFill>
                <a:latin typeface="Inter"/>
              </a:rPr>
              <a:t>EVALUACIÓN PARCIAL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10879"/>
            <a:ext cx="9101137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FFFFFF"/>
                </a:solidFill>
                <a:latin typeface="Inter"/>
              </a:rPr>
              <a:t>Sistema de Remuneraciones AutoTech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080420"/>
            <a:ext cx="714375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94A3B8"/>
                </a:solidFill>
                <a:latin typeface="Inter"/>
              </a:rPr>
              <a:t>Automatización con Oracle PL/SQL.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057525"/>
            <a:ext cx="209550" cy="2762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562350"/>
            <a:ext cx="266700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067175"/>
            <a:ext cx="200025" cy="2762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2286000"/>
            <a:ext cx="72009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El Problema del Negocio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3057525"/>
            <a:ext cx="6496050" cy="2762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Cálculo manual: Errores contables frecuentes.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3562350"/>
            <a:ext cx="6438900" cy="2762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Demora excesiva: 2 días de cierre mensual.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067175"/>
            <a:ext cx="6505575" cy="2762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Inter"/>
              </a:rPr>
              <a:t>Sin seguridad: Hojas de cálculo no auditables.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705600" y="1520428"/>
            <a:ext cx="5029200" cy="2114252"/>
          </a:xfrm>
          <a:prstGeom prst="roundRect">
            <a:avLst>
              <a:gd name="adj" fmla="val 360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705600" y="3863280"/>
            <a:ext cx="5029200" cy="1474291"/>
          </a:xfrm>
          <a:prstGeom prst="roundRect">
            <a:avLst>
              <a:gd name="adj" fmla="val 516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05600" y="1520428"/>
            <a:ext cx="38100" cy="21142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05600" y="3863280"/>
            <a:ext cx="38100" cy="1474291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1838325"/>
            <a:ext cx="5380672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Implementación de Funciones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000375"/>
            <a:ext cx="5124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34155"/>
                </a:solidFill>
                <a:latin typeface="Inter"/>
              </a:rPr>
              <a:t>Encapsulan reglas matemáticas de negocio para reutilizarlas directamente en consultas SQL.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800475"/>
            <a:ext cx="5124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75569"/>
                </a:solidFill>
                <a:latin typeface="Inter"/>
              </a:rPr>
              <a:t>Con Parámetros: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FN_CALCULAR_PORCENTAJE_BONO evalúa el monto y retorna el % (5, 10 o 15).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410075"/>
            <a:ext cx="5124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75569"/>
                </a:solidFill>
                <a:latin typeface="Inter"/>
              </a:rPr>
              <a:t>Sin Parámetros: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FN_OBTENER_IVA retorna la tasa fija (0.19) para estandarizar impuestos.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6100" y="1672828"/>
            <a:ext cx="52959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59E0B"/>
                </a:solidFill>
                <a:latin typeface="sans-serif"/>
              </a:rPr>
              <a:t>CON PARÁMETROS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6100" y="1882378"/>
            <a:ext cx="4781550" cy="15999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E2E8F0"/>
                </a:solidFill>
                <a:latin typeface="monospace"/>
              </a:rPr>
              <a:t>CREATE OR REPLACE FUNCTION FN_CALCULAR_PORCENTAJE_BONO (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    p_monto_recaudado NUMBER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) RETURN NUMBER IS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    v_porcentaje NUMBER(4,2) := 0;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BEGIN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    IF p_monto_recaudado &gt;= 500000 THEN v_porcentaje := 0.15;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    ELSIF p_monto_recaudado &gt;= 250000 THEN v_porcentaje := 0.10;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    ELSE v_porcentaje := 0.05; END IF;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    RETURN v_porcentaje;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END;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6100" y="4015680"/>
            <a:ext cx="52959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sans-serif"/>
              </a:rPr>
              <a:t>SIN PARÁMETROS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6100" y="4225230"/>
            <a:ext cx="4781550" cy="95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E2E8F0"/>
                </a:solidFill>
                <a:latin typeface="monospace"/>
              </a:rPr>
              <a:t>CREATE OR REPLACE FUNCTION FN_OBTENER_IVA 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RETURN NUMBER IS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    v_iva CONSTANT NUMBER(3,2) := 0.19;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BEGIN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    RETURN v_iva;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END;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1440358"/>
            <a:ext cx="5029200" cy="1954262"/>
          </a:xfrm>
          <a:prstGeom prst="roundRect">
            <a:avLst>
              <a:gd name="adj" fmla="val 389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57200" y="3623220"/>
            <a:ext cx="5029200" cy="1794271"/>
          </a:xfrm>
          <a:prstGeom prst="roundRect">
            <a:avLst>
              <a:gd name="adj" fmla="val 424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440358"/>
            <a:ext cx="38100" cy="195426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3623220"/>
            <a:ext cx="38100" cy="1794271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53200" y="1843087"/>
            <a:ext cx="56388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Procesamiento por Lotes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2538412"/>
            <a:ext cx="5124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34155"/>
                </a:solidFill>
                <a:latin typeface="Inter"/>
              </a:rPr>
              <a:t>Automatizan operaciones masivas pasando de una liquidación individual a un proceso iterativo.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1592758"/>
            <a:ext cx="58578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59E0B"/>
                </a:solidFill>
                <a:latin typeface="sans-serif"/>
              </a:rPr>
              <a:t>CON PARÁMETROS (Liquidación Individual)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1802308"/>
            <a:ext cx="4781550" cy="1439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E2E8F0"/>
                </a:solidFill>
                <a:latin typeface="monospace"/>
              </a:rPr>
              <a:t>CREATE OR REPLACE PROCEDURE SP_LIQUIDAR_MECANICO (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    p_id_mec NUMBER, p_mes NUMBER, p_anio NUMBER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) IS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    -- Lógica de cálculo...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BEGIN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    INSERT INTO HISTORICO_PAGOS (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        id_mecanico, mes, anio, sueldo_total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    ) VALUES ( p_id_mec, p_mes, p_anio, v_sueldo_final );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END;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3775620"/>
            <a:ext cx="58578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sans-serif"/>
              </a:rPr>
              <a:t>SIN PARÁMETROS (Proceso Masivo)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3985170"/>
            <a:ext cx="4781550" cy="1279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E2E8F0"/>
                </a:solidFill>
                <a:latin typeface="monospace"/>
              </a:rPr>
              <a:t>CREATE OR REPLACE PROCEDURE SP_PROCESO_MASIVO_CIERRE IS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    CURSOR c_activos IS 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        SELECT id_mecanico FROM MECANICO WHERE estado = 'ACTIVO';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BEGIN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    FOR r IN c_activos LOOP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        SP_LIQUIDAR_MECANICO(r.id_mecanico, 5, 2024);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    END LOOP;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END;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3338512"/>
            <a:ext cx="51244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75569"/>
                </a:solidFill>
                <a:latin typeface="Inter"/>
              </a:rPr>
              <a:t>Con Parámetros: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SP_LIQUIDAR_MECANICO realiza el cálculo para un técnico específico y guarda el histórico.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4176712"/>
            <a:ext cx="51244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75569"/>
                </a:solidFill>
                <a:latin typeface="Inter"/>
              </a:rPr>
              <a:t>Sin Parámetros: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SP_PROCESO_MASIVO usa un cursor explícito para recorrer a todos los mecánicos activos y liquidarlos.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914525"/>
            <a:ext cx="5334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09875"/>
            <a:ext cx="5334000" cy="3438525"/>
          </a:xfrm>
          <a:prstGeom prst="roundRect">
            <a:avLst>
              <a:gd name="adj" fmla="val 221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48400" y="1914525"/>
            <a:ext cx="53340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48400" y="2809875"/>
            <a:ext cx="5334000" cy="3438525"/>
          </a:xfrm>
          <a:prstGeom prst="roundRect">
            <a:avLst>
              <a:gd name="adj" fmla="val 221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-381000" y="609600"/>
            <a:ext cx="129540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000" b="1" i="0" u="none">
                <a:solidFill>
                  <a:srgbClr val="0F172A"/>
                </a:solidFill>
                <a:latin typeface="Inter"/>
              </a:rPr>
              <a:t>Arquitectura de Paquetes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381000" y="1228725"/>
            <a:ext cx="12954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64748B"/>
                </a:solidFill>
                <a:latin typeface="Inter"/>
              </a:rPr>
              <a:t>Seguridad y rendimiento separando la interfaz de la lógica.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105025"/>
            <a:ext cx="700087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Especificación Pública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457450"/>
            <a:ext cx="66675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Accesible para Finanzas.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962275"/>
            <a:ext cx="5124450" cy="3133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E2E8F0"/>
                </a:solidFill>
                <a:latin typeface="monospace"/>
              </a:rPr>
              <a:t>CREATE OR REPLACE PACKAGE PKG_NOMINA IS</a:t>
            </a:r>
            <a:r>
              <a:t>
</a:t>
            </a:r>
            <a:r>
              <a:rPr sz="1050" b="0" i="0" u="none">
                <a:solidFill>
                  <a:srgbClr val="E2E8F0"/>
                </a:solidFill>
                <a:latin typeface="monospace"/>
              </a:rPr>
              <a:t>     -- Procedimiento accesible desde fuera</a:t>
            </a:r>
            <a:r>
              <a:t>
</a:t>
            </a:r>
            <a:r>
              <a:rPr sz="1050" b="0" i="0" u="none">
                <a:solidFill>
                  <a:srgbClr val="E2E8F0"/>
                </a:solidFill>
                <a:latin typeface="monospace"/>
              </a:rPr>
              <a:t>     PROCEDURE SP_PROCESAR_MES(</a:t>
            </a:r>
            <a:r>
              <a:t>
</a:t>
            </a:r>
            <a:r>
              <a:rPr sz="1050" b="0" i="0" u="none">
                <a:solidFill>
                  <a:srgbClr val="E2E8F0"/>
                </a:solidFill>
                <a:latin typeface="monospace"/>
              </a:rPr>
              <a:t>         p_mes NUMBER, </a:t>
            </a:r>
            <a:r>
              <a:t>
</a:t>
            </a:r>
            <a:r>
              <a:rPr sz="1050" b="0" i="0" u="none">
                <a:solidFill>
                  <a:srgbClr val="E2E8F0"/>
                </a:solidFill>
                <a:latin typeface="monospace"/>
              </a:rPr>
              <a:t>         p_anio NUMBER</a:t>
            </a:r>
            <a:r>
              <a:t>
</a:t>
            </a:r>
            <a:r>
              <a:rPr sz="1050" b="0" i="0" u="none">
                <a:solidFill>
                  <a:srgbClr val="E2E8F0"/>
                </a:solidFill>
                <a:latin typeface="monospace"/>
              </a:rPr>
              <a:t>     );</a:t>
            </a:r>
            <a:r>
              <a:t>
</a:t>
            </a:r>
            <a:r>
              <a:rPr sz="1050" b="0" i="0" u="none">
                <a:solidFill>
                  <a:srgbClr val="E2E8F0"/>
                </a:solidFill>
                <a:latin typeface="monospace"/>
              </a:rPr>
              <a:t> END;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2105025"/>
            <a:ext cx="59436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Cuerpo Privado (Body)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2457450"/>
            <a:ext cx="59436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Inter"/>
              </a:rPr>
              <a:t>Lógica interna protegida.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62275"/>
            <a:ext cx="5124450" cy="3133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E2E8F0"/>
                </a:solidFill>
                <a:latin typeface="monospace"/>
              </a:rPr>
              <a:t>CREATE OR REPLACE PACKAGE BODY PKG_NOMINA IS</a:t>
            </a:r>
            <a:r>
              <a:t>
</a:t>
            </a:r>
            <a:r>
              <a:rPr sz="1050" b="0" i="0" u="none">
                <a:solidFill>
                  <a:srgbClr val="E2E8F0"/>
                </a:solidFill>
                <a:latin typeface="monospace"/>
              </a:rPr>
              <a:t>     -- Función interna (privada)</a:t>
            </a:r>
            <a:r>
              <a:t>
</a:t>
            </a:r>
            <a:r>
              <a:rPr sz="1050" b="0" i="0" u="none">
                <a:solidFill>
                  <a:srgbClr val="E2E8F0"/>
                </a:solidFill>
                <a:latin typeface="monospace"/>
              </a:rPr>
              <a:t>     FUNCTION FN_MECANICO_ACTIVO(p_id NUMBER) </a:t>
            </a:r>
            <a:r>
              <a:t>
</a:t>
            </a:r>
            <a:r>
              <a:rPr sz="1050" b="0" i="0" u="none">
                <a:solidFill>
                  <a:srgbClr val="E2E8F0"/>
                </a:solidFill>
                <a:latin typeface="monospace"/>
              </a:rPr>
              <a:t>     RETURN BOOLEAN IS</a:t>
            </a:r>
            <a:r>
              <a:t>
</a:t>
            </a:r>
            <a:r>
              <a:rPr sz="1050" b="0" i="0" u="none">
                <a:solidFill>
                  <a:srgbClr val="E2E8F0"/>
                </a:solidFill>
                <a:latin typeface="monospace"/>
              </a:rPr>
              <a:t>         -- Lógica oculta...</a:t>
            </a:r>
            <a:r>
              <a:t>
</a:t>
            </a:r>
            <a:r>
              <a:rPr sz="1050" b="0" i="0" u="none">
                <a:solidFill>
                  <a:srgbClr val="E2E8F0"/>
                </a:solidFill>
                <a:latin typeface="monospace"/>
              </a:rPr>
              <a:t>     END;</a:t>
            </a:r>
            <a:r>
              <a:t>
</a:t>
            </a:r>
            <a:r>
              <a:rPr sz="1050" b="0" i="0" u="none">
                <a:solidFill>
                  <a:srgbClr val="E2E8F0"/>
                </a:solidFill>
                <a:latin typeface="monospace"/>
              </a:rPr>
              <a:t> END;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48400" y="0"/>
            <a:ext cx="5943600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705600" y="1760339"/>
            <a:ext cx="5029200" cy="1634281"/>
          </a:xfrm>
          <a:prstGeom prst="roundRect">
            <a:avLst>
              <a:gd name="adj" fmla="val 466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705600" y="3623220"/>
            <a:ext cx="5029200" cy="1474291"/>
          </a:xfrm>
          <a:prstGeom prst="roundRect">
            <a:avLst>
              <a:gd name="adj" fmla="val 516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705600" y="1760339"/>
            <a:ext cx="38100" cy="163428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05600" y="3623220"/>
            <a:ext cx="38100" cy="1474291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609850" y="4010025"/>
            <a:ext cx="571648" cy="266700"/>
          </a:xfrm>
          <a:prstGeom prst="roundRect">
            <a:avLst>
              <a:gd name="adj" fmla="val 14285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1838325"/>
            <a:ext cx="5380672" cy="933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Auditoría mediante Triggers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000375"/>
            <a:ext cx="51244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34155"/>
                </a:solidFill>
                <a:latin typeface="Inter"/>
              </a:rPr>
              <a:t>Controlan modificaciones no autorizadas y previenen fraudes internos.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800475"/>
            <a:ext cx="5124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75569"/>
                </a:solidFill>
                <a:latin typeface="Inter"/>
              </a:rPr>
              <a:t>Nivel de Fila: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Evalúa registro por registro. Rescata el valor anterior usando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4410075"/>
            <a:ext cx="5124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475569"/>
                </a:solidFill>
                <a:latin typeface="Inter"/>
              </a:rPr>
              <a:t>Nivel de Sentencia:</a:t>
            </a:r>
            <a:r>
              <a:rPr sz="1500" b="0" i="0" u="none">
                <a:solidFill>
                  <a:srgbClr val="475569"/>
                </a:solidFill>
                <a:latin typeface="Inter"/>
              </a:rPr>
              <a:t> Ejecuta la auditoría una sola vez tras un evento masivo, ahorrando recursos.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6100" y="1912739"/>
            <a:ext cx="52959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59E0B"/>
                </a:solidFill>
                <a:latin typeface="sans-serif"/>
              </a:rPr>
              <a:t>A NIVEL DE FILA (FOR EACH ROW)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6100" y="2122289"/>
            <a:ext cx="4781550" cy="11199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E2E8F0"/>
                </a:solidFill>
                <a:latin typeface="monospace"/>
              </a:rPr>
              <a:t>CREATE OR REPLACE TRIGGER TRG_AUDITORIA_FILA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AFTER UPDATE OR DELETE ON ORDEN_SERVICIO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FOR EACH ROW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BEGIN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    INSERT INTO LOG_AUDITORIA (tabla, tipo) 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    VALUES ('ORDEN', 'UPDATE FILA');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END;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6100" y="3775620"/>
            <a:ext cx="529590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sans-serif"/>
              </a:rPr>
              <a:t>A NIVEL DE SENTENCIA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6100" y="3985170"/>
            <a:ext cx="4781550" cy="959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260"/>
              </a:lnSpc>
            </a:pPr>
            <a:r>
              <a:rPr sz="900" b="0" i="0" u="none">
                <a:solidFill>
                  <a:srgbClr val="E2E8F0"/>
                </a:solidFill>
                <a:latin typeface="monospace"/>
              </a:rPr>
              <a:t>CREATE OR REPLACE TRIGGER TRG_AUDITORIA_SENTENCIA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AFTER UPDATE OR DELETE ON DETALLE_SERVICIO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BEGIN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    INSERT INTO LOG_AUDITORIA (tabla, tipo)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    VALUES ('DETALLE', 'UPDATE MASIVO');</a:t>
            </a:r>
            <a:r>
              <a:t>
</a:t>
            </a:r>
            <a:r>
              <a:rPr sz="900" b="0" i="0" u="none">
                <a:solidFill>
                  <a:srgbClr val="E2E8F0"/>
                </a:solidFill>
                <a:latin typeface="monospace"/>
              </a:rPr>
              <a:t> END;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7000" y="4029075"/>
            <a:ext cx="74309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monospace"/>
              </a:rPr>
              <a:t>:OLD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366962"/>
          <a:ext cx="10972798" cy="1295400"/>
        </p:xfrm>
        <a:graphic>
          <a:graphicData uri="http://schemas.openxmlformats.org/drawingml/2006/table">
            <a:tbl>
              <a:tblPr/>
              <a:tblGrid>
                <a:gridCol w="2346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7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88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ID_MECANICO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MES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SUELDO_BASE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BONO_COMISION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SUELDO_TOTAL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101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$650.000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$49.500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Inter"/>
                        </a:rPr>
                        <a:t>$699.500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102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$720.000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$118.500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Inter"/>
                        </a:rPr>
                        <a:t>$838.500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4243387"/>
          <a:ext cx="10972798" cy="1295400"/>
        </p:xfrm>
        <a:graphic>
          <a:graphicData uri="http://schemas.openxmlformats.org/drawingml/2006/table">
            <a:tbl>
              <a:tblPr/>
              <a:tblGrid>
                <a:gridCol w="2651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1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99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TABLA_AFECTADA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NIVEL_TRIGGER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DETALLE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ORDEN_SERVICIO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FILA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Orden ID: 5001 | Estado previo: TERMINADA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DETALLE_SERVICIO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SENTENCIA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Se ejecutó una sentencia masiva de tipo UPDATE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609600"/>
            <a:ext cx="11582400" cy="4667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Inter"/>
              </a:rPr>
              <a:t>Evidencia de Ejecución Persistente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090737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monospace"/>
              </a:rPr>
              <a:t>&gt; SELECT * FROM HISTORICO_PAGOS;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967162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monospace"/>
              </a:rPr>
              <a:t>&gt; SELECT * FROM LOG_AUDITORIA;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64496" y="1914525"/>
            <a:ext cx="4063007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94A3B8"/>
                </a:solidFill>
                <a:latin typeface="Inter"/>
              </a:rPr>
              <a:t>Impacto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79093" y="2590800"/>
            <a:ext cx="3833812" cy="1143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sz="9000" b="1" i="0" u="none">
                <a:solidFill>
                  <a:srgbClr val="2563EB"/>
                </a:solidFill>
                <a:latin typeface="Inter"/>
              </a:rPr>
              <a:t>0.01s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88468" y="3962400"/>
            <a:ext cx="6215062" cy="3714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FFFFFF"/>
                </a:solidFill>
                <a:latin typeface="Inter"/>
              </a:rPr>
              <a:t>Tiempo de cierre mensual actual.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4486275"/>
            <a:ext cx="71437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Inter"/>
              </a:rPr>
              <a:t>De 2 días de cálculo manual a fracciones de segundo con trazabilidad y seguridad total en Oracle PL/SQL.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870</Words>
  <Application>Microsoft Office PowerPoint</Application>
  <PresentationFormat>Panorámica</PresentationFormat>
  <Paragraphs>71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Calibri</vt:lpstr>
      <vt:lpstr>sans-serif</vt:lpstr>
      <vt:lpstr>Inter</vt:lpstr>
      <vt:lpstr>monospace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NICOLAS ANTONIO DELGADO ROJAS</cp:lastModifiedBy>
  <cp:revision>2</cp:revision>
  <dcterms:created xsi:type="dcterms:W3CDTF">2013-01-27T09:14:16Z</dcterms:created>
  <dcterms:modified xsi:type="dcterms:W3CDTF">2026-10-28T01:12:47Z</dcterms:modified>
  <cp:category/>
</cp:coreProperties>
</file>