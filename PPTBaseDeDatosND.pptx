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Atkinson Hyperlegible Next" panose="020F0502020204030204" pitchFamily="2" charset="0"/>
      <p:regular r:id="rId11"/>
    </p:embeddedFont>
    <p:embeddedFont>
      <p:font typeface="Atkinson Hyperlegible Next Bold" panose="020B0604020202020204" charset="0"/>
      <p:regular r:id="rId12"/>
    </p:embeddedFont>
    <p:embeddedFont>
      <p:font typeface="Atkinson Hyperlegible Next SemiBold" panose="020B0604020202020204" charset="0"/>
      <p:regular r:id="rId13"/>
    </p:embeddedFont>
    <p:embeddedFont>
      <p:font typeface="B612" panose="020B0604020202020204" charset="0"/>
      <p:regular r:id="rId14"/>
    </p:embeddedFont>
    <p:embeddedFont>
      <p:font typeface="B612 Bold" panose="020B0604020202020204" charset="0"/>
      <p:regular r:id="rId15"/>
    </p:embeddedFont>
    <p:embeddedFont>
      <p:font typeface="B612 Mono" panose="020B0604020202020204" charset="0"/>
      <p:regular r:id="rId16"/>
    </p:embeddedFont>
    <p:embeddedFont>
      <p:font typeface="B612 Mono Bold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43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evaluación como una implementación persistente en Oracle 21c para el taller mecánico. El foco está en cálculo, procesamiento, encapsulamiento y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era solamente calcular comisiones. Faltaban histórico formal y auditoría. La arquitectura en Oracle 21c permite cerrar el mes en 0,01 segundos y mantener trazabilidad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las funciones permiten reutilizar reglas dentro de SQL. Una determina el porcentaje de bono según el total recaudado y la otra fija el IVA en 0,19.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diferencia entre liquidar a un mecánico y ejecutar el cierre completo. El procedimiento individual inserta en HISTORICO_PAGOS; el proceso masivo recorre los mecánicos activos y ejecuta la nómina por lotes.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package separa la interfaz pública de las reglas privadas. Finanzas usa el procedimiento de nómina y la función de órdenes; la validación de mecánico activo queda encapsulada.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Contrastar los dos triggers. El trigger de fila registra cada cambio de una orden usando :OLD. El trigger de sentencia registra una modificación masiva una sola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automatización produce evidencia: la nómina queda en tablas históricas y las alteraciones de órdenes se registran en Oracle. La implementación cubre los elementos exigidos por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retomando la arquitectura completa: funciones para el cálculo, procedimientos para el procesamiento, package para el encapsulamiento y triggers para el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52" y="3251200"/>
            <a:ext cx="355591" cy="355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786" y="1320800"/>
            <a:ext cx="10722004" cy="4684415"/>
          </a:xfrm>
          <a:prstGeom prst="rect">
            <a:avLst/>
          </a:prstGeom>
          <a:solidFill>
            <a:srgbClr val="F7F8F5"/>
          </a:solidFill>
          <a:ln w="6350">
            <a:solidFill>
              <a:srgbClr val="C2CC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920727" y="1635125"/>
            <a:ext cx="1060770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AUTO TECH SERVICES LTDA. · TALLER MECÁNICO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20727" y="2043795"/>
            <a:ext cx="9998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Implementación de Programas PL/SQL en Base de Datos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20727" y="3135511"/>
            <a:ext cx="9998123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Taller de Base de Datos (BDY1103) · Evaluación 2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Estudiante: Nicolas Delgado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0993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El taller necesitaba trazabilidad, no cálculos manuales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222746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 solución transforma el cierre mensual en un proceso persistente y auditable.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641402"/>
            <a:ext cx="3454314" cy="1956197"/>
          </a:xfrm>
          <a:prstGeom prst="roundRect">
            <a:avLst>
              <a:gd name="adj" fmla="val 3895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50879" y="2885877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PROBLEMA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0879" y="3120101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Comisiones manuales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879" y="3508077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histórico formal ni auditoría.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641402"/>
            <a:ext cx="3454314" cy="1956197"/>
          </a:xfrm>
          <a:prstGeom prst="roundRect">
            <a:avLst>
              <a:gd name="adj" fmla="val 3895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609985" y="2885877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SOLUCIÓN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09985" y="3120101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Oracle 21c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9985" y="3508077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Arquitectura persistente en base de datos.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2641402"/>
            <a:ext cx="3454314" cy="1956197"/>
          </a:xfrm>
          <a:prstGeom prst="roundRect">
            <a:avLst>
              <a:gd name="adj" fmla="val 3895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369091" y="2885877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IMPACTO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9091" y="3175992"/>
            <a:ext cx="297172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4C3BCF"/>
                </a:solidFill>
                <a:latin typeface="B612" pitchFamily="34" charset="0"/>
                <a:ea typeface="B612" pitchFamily="34" charset="-122"/>
                <a:cs typeface="B612" pitchFamily="34" charset="-120"/>
              </a:rPr>
              <a:t>0,01 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69091" y="3858617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Por cierre mensual, con trazabilidad total.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02 / 08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Funciones: reglas reutilizables dentro de 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1430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Cada función concentra una regla y retorna un valor listo para consultar.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556941"/>
            <a:ext cx="5333867" cy="5063034"/>
          </a:xfrm>
          <a:prstGeom prst="roundRect">
            <a:avLst>
              <a:gd name="adj" fmla="val 1505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25479" y="1776016"/>
            <a:ext cx="511797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BONIFICACIÓN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5479" y="2010240"/>
            <a:ext cx="4902077" cy="27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FN_CALCULAR_PORCENTAJE_BONO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5479" y="2410916"/>
            <a:ext cx="51179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Recibe el total recaudado y retorna </a:t>
            </a:r>
            <a:r>
              <a:rPr lang="en-US" sz="14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5%</a:t>
            </a: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r>
              <a:rPr lang="en-US" sz="14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10%</a:t>
            </a: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o </a:t>
            </a:r>
            <a:r>
              <a:rPr lang="en-US" sz="14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15%</a:t>
            </a: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" y="2767707"/>
            <a:ext cx="4902077" cy="32795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48244" y="1556941"/>
            <a:ext cx="5333867" cy="5063034"/>
          </a:xfrm>
          <a:prstGeom prst="roundRect">
            <a:avLst>
              <a:gd name="adj" fmla="val 1505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64138" y="1776016"/>
            <a:ext cx="511797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IMPUESTOS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64138" y="2010240"/>
            <a:ext cx="4902077" cy="27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FN_OBTENER_IVA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64138" y="2410916"/>
            <a:ext cx="51179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Retorna </a:t>
            </a:r>
            <a:r>
              <a:rPr lang="en-US" sz="14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0,19</a:t>
            </a: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para estandarizar impuestos.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138" y="2767707"/>
            <a:ext cx="4902077" cy="204499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03 / 08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09725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kern="100" spc="-1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Procedimientos: una liquidación, un cierre masivo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888895"/>
            <a:ext cx="11582110" cy="11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85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 lógica pasa de una operación individual a una ejecución por lotes.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9585" y="1064320"/>
            <a:ext cx="5333867" cy="6372225"/>
          </a:xfrm>
          <a:prstGeom prst="roundRect">
            <a:avLst>
              <a:gd name="adj" fmla="val 1429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50879" y="1305620"/>
            <a:ext cx="725370" cy="106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50879" y="1454944"/>
            <a:ext cx="4851179" cy="19050"/>
          </a:xfrm>
          <a:prstGeom prst="rect">
            <a:avLst/>
          </a:prstGeom>
          <a:solidFill>
            <a:srgbClr val="4C3B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50879" y="1537990"/>
            <a:ext cx="509257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100" spc="38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LIQUIDACIÓN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50879" y="1661843"/>
            <a:ext cx="4851279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SP_LIQUIDAR_MECANICO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879" y="1873344"/>
            <a:ext cx="5092573" cy="11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85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Recibe ID, mes y año; calcula e inserta en </a:t>
            </a:r>
            <a:r>
              <a:rPr lang="en-US" sz="850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HISTORICO_PAGOS</a:t>
            </a:r>
            <a:r>
              <a:rPr lang="en-US" sz="85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48244" y="1064320"/>
            <a:ext cx="5333867" cy="6372225"/>
          </a:xfrm>
          <a:prstGeom prst="roundRect">
            <a:avLst>
              <a:gd name="adj" fmla="val 1429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89538" y="1305620"/>
            <a:ext cx="740153" cy="106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89538" y="1454944"/>
            <a:ext cx="4851179" cy="19050"/>
          </a:xfrm>
          <a:prstGeom prst="rect">
            <a:avLst/>
          </a:prstGeom>
          <a:solidFill>
            <a:srgbClr val="4C3B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89538" y="1537990"/>
            <a:ext cx="509257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100" spc="38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CIERRE MASIVO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489538" y="1661843"/>
            <a:ext cx="4851279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SP_PROCESO_MASIVO_CIERRE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89538" y="1873344"/>
            <a:ext cx="5092573" cy="11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Recorre mecánicos activos y ejecuta la nómina por lotes.</a:t>
            </a:r>
            <a:endParaRPr lang="en-US" sz="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538" y="2028130"/>
            <a:ext cx="4343291" cy="3824585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04 / 08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32" y="2184499"/>
            <a:ext cx="4863978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68275"/>
            <a:ext cx="1188690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Package: interfaz pública, reglas privadas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52396" y="685800"/>
            <a:ext cx="120392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encapsulamiento ordena qué puede usar Finanzas y qué queda protegido.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396" y="1099741"/>
            <a:ext cx="5867154" cy="4465340"/>
          </a:xfrm>
          <a:prstGeom prst="roundRect">
            <a:avLst>
              <a:gd name="adj" fmla="val 1706"/>
            </a:avLst>
          </a:prstGeom>
          <a:solidFill>
            <a:srgbClr val="EDF0F1"/>
          </a:solidFill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17492" y="1340048"/>
            <a:ext cx="5702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2A313A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PÚBLICOS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7492" y="1574273"/>
            <a:ext cx="553696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Interfaz para Finanzas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7492" y="1962249"/>
            <a:ext cx="570205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Procedimiento de nómina y función de órdenes para Finanzas.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92" y="2319040"/>
            <a:ext cx="5536962" cy="26521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1946" y="1099741"/>
            <a:ext cx="5867253" cy="4465340"/>
          </a:xfrm>
          <a:prstGeom prst="roundRect">
            <a:avLst>
              <a:gd name="adj" fmla="val 1706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337042" y="1268016"/>
            <a:ext cx="570215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PRIVADO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37042" y="1502240"/>
            <a:ext cx="5537061" cy="27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FN_ES_MECANICO_ACTIVO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37042" y="1902916"/>
            <a:ext cx="570215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Valida el estado del técnico.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042" y="2259707"/>
            <a:ext cx="5537061" cy="2783483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05 / 08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07"/>
            <a:ext cx="1097252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b="1" kern="100" spc="-19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Triggers: auditoría a nivel de fila y sentencia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09585" y="990861"/>
            <a:ext cx="115821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Dos niveles de control registran cambios individuales y modificaciones masivas.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585" y="1261070"/>
            <a:ext cx="5333867" cy="5074245"/>
          </a:xfrm>
          <a:prstGeom prst="roundRect">
            <a:avLst>
              <a:gd name="adj" fmla="val 1502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50879" y="1502370"/>
            <a:ext cx="5092573" cy="12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kern="100" spc="49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NIVEL DE FILA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879" y="1672442"/>
            <a:ext cx="485127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TRG_AUDITORIA_ORDEN_FILA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879" y="1957450"/>
            <a:ext cx="5092573" cy="177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Registra cambios con </a:t>
            </a:r>
            <a:r>
              <a:rPr lang="en-US" sz="1100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:OLD</a:t>
            </a:r>
            <a:r>
              <a:rPr lang="en-US" sz="11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8244" y="1261070"/>
            <a:ext cx="5333867" cy="5074245"/>
          </a:xfrm>
          <a:prstGeom prst="roundRect">
            <a:avLst>
              <a:gd name="adj" fmla="val 1502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489538" y="1502370"/>
            <a:ext cx="5092573" cy="12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kern="100" spc="49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NIVEL DE SENTENCIA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89538" y="1672442"/>
            <a:ext cx="485127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TRG_AUDITORIA_DETALLE_SENTENCIA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9538" y="1957450"/>
            <a:ext cx="509257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Registra modificaciones masivas una vez.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538" y="2193330"/>
            <a:ext cx="4686183" cy="3664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9585" y="6434435"/>
            <a:ext cx="10972526" cy="4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750"/>
              </a:spcAft>
              <a:buNone/>
            </a:pP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06 / 08</a:t>
            </a:r>
            <a:endParaRPr lang="en-US" sz="9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79" y="2184400"/>
            <a:ext cx="4863978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La automatización convierte el cierre en evidencia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1430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 solución deja registros persistentes y controles verificables dentro de Oracle.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556941"/>
            <a:ext cx="3454314" cy="2238673"/>
          </a:xfrm>
          <a:prstGeom prst="roundRect">
            <a:avLst>
              <a:gd name="adj" fmla="val 3404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22284" y="1569641"/>
            <a:ext cx="3428914" cy="539750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22284" y="2103041"/>
            <a:ext cx="3428914" cy="6350"/>
          </a:xfrm>
          <a:prstGeom prst="rect">
            <a:avLst/>
          </a:prstGeom>
          <a:solidFill>
            <a:srgbClr val="CFD3C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279395" y="1702991"/>
            <a:ext cx="7242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2A313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0879" y="2185591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AUTOMATIZACIÓN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879" y="2419815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Nómina masiva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879" y="2807791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Registrada en tablas históricas.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8691" y="1556941"/>
            <a:ext cx="3454314" cy="2238673"/>
          </a:xfrm>
          <a:prstGeom prst="roundRect">
            <a:avLst>
              <a:gd name="adj" fmla="val 340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381390" y="1569641"/>
            <a:ext cx="3428914" cy="539750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381390" y="2103041"/>
            <a:ext cx="3428914" cy="6350"/>
          </a:xfrm>
          <a:prstGeom prst="rect">
            <a:avLst/>
          </a:prstGeom>
          <a:solidFill>
            <a:srgbClr val="CFD3C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019947" y="1702991"/>
            <a:ext cx="76138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2A313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09985" y="2185591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09985" y="2419815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Órdenes auditadas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9985" y="2807791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Las alteraciones quedan auditadas en Oracle.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7797" y="1556941"/>
            <a:ext cx="3454314" cy="2238673"/>
          </a:xfrm>
          <a:prstGeom prst="roundRect">
            <a:avLst>
              <a:gd name="adj" fmla="val 3404"/>
            </a:avLst>
          </a:prstGeom>
          <a:noFill/>
          <a:ln w="12700">
            <a:solidFill>
              <a:srgbClr val="1A1F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140496" y="1569641"/>
            <a:ext cx="3428914" cy="539750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140496" y="2103041"/>
            <a:ext cx="3428914" cy="6350"/>
          </a:xfrm>
          <a:prstGeom prst="rect">
            <a:avLst/>
          </a:prstGeom>
          <a:solidFill>
            <a:srgbClr val="CFD3C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775977" y="1702991"/>
            <a:ext cx="767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2A313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369091" y="2185591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RÚBRICA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69091" y="2419815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Implementación completa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69091" y="2807791"/>
            <a:ext cx="29717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Funciones, procedimientos, package público/privado y triggers fila/sentencia.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07 / 08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118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32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Resultado: una solución PL/SQL persistente y auditable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06004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Oracle 21c concentra cálculo, procesamiento, encapsulamiento y control.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438" y="6397030"/>
            <a:ext cx="3948907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IMPLEMENTACIÓN DE PROGRAMAS PL/SQL EN BASE DE DATOS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08 / 08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552825"/>
            <a:ext cx="10972526" cy="24384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2" y="1028700"/>
            <a:ext cx="4889378" cy="386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Panorámica</PresentationFormat>
  <Paragraphs>95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Atkinson Hyperlegible Next Bold</vt:lpstr>
      <vt:lpstr>B612</vt:lpstr>
      <vt:lpstr>B612 Mono Bold</vt:lpstr>
      <vt:lpstr>Arial</vt:lpstr>
      <vt:lpstr>Atkinson Hyperlegible Next SemiBold</vt:lpstr>
      <vt:lpstr>B612 Bold</vt:lpstr>
      <vt:lpstr>B612 Mono</vt:lpstr>
      <vt:lpstr>Atkinson Hyperlegible Next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nicolas delgado rojas</dc:creator>
  <cp:lastModifiedBy>NICOLAS ANTONIO DELGADO ROJAS</cp:lastModifiedBy>
  <cp:revision>1</cp:revision>
  <dcterms:created xsi:type="dcterms:W3CDTF">2026-10-20T18:34:23Z</dcterms:created>
  <dcterms:modified xsi:type="dcterms:W3CDTF">2026-10-20T18:36:03Z</dcterms:modified>
</cp:coreProperties>
</file>